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525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5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4114800" cy="4114800"/>
          </a:xfrm>
          <a:prstGeom prst="ellipse">
            <a:avLst/>
          </a:prstGeom>
          <a:solidFill>
            <a:srgbClr val="B8D8A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B8D8A8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5029200"/>
            <a:ext cx="2011680" cy="2011680"/>
          </a:xfrm>
          <a:prstGeom prst="ellipse">
            <a:avLst/>
          </a:prstGeom>
          <a:solidFill>
            <a:srgbClr val="B8D8A8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PRESENTATION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Project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4F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PDF — using LangChain, Google Gemini &amp; ChromaDB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2926080" cy="0"/>
          </a:xfrm>
          <a:prstGeom prst="line">
            <a:avLst/>
          </a:prstGeom>
          <a:noFill/>
          <a:ln w="19050">
            <a:solidFill>
              <a:srgbClr val="B8D8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Samreen Shaikh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48280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F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 35 WE  |  RAG Project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E4F0D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5623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8D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45920" y="1874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22585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LLMs need retrieval-augmented generation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E4F0DB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185623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8D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223760" y="1874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23760" y="22585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pipeline fits together end-to-end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E4F0D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7355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8D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45920" y="3291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45920" y="36758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Chunking, embeddings &amp; vector retrieval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310896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E4F0DB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327355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8D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223760" y="3291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23760" y="36758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LangChain, Gemini API &amp; ChromaDB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E4F0D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69087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8D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645920" y="4709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45920" y="50932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chatbot answering real questions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452628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E4F0DB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469087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8D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223760" y="4709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23760" y="50932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from building this project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Project — Chat with PDF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Retrieval-Augmented Generation?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E4F0D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like Gemini are trained on general, public data. 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don't know about a private PDF — an employee handbook, a research paper, a contract — and they 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 confident but wrong answers</a:t>
            </a:r>
            <a:r>
              <a:rPr lang="en-US" sz="1350" b="1" dirty="0"/>
              <a:t> </a:t>
            </a:r>
            <a:r>
              <a:rPr lang="en-US" sz="1350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asked about it.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35040" y="1737360"/>
            <a:ext cx="5577840" cy="4114800"/>
          </a:xfrm>
          <a:prstGeom prst="roundRect">
            <a:avLst>
              <a:gd name="adj" fmla="val 1778"/>
            </a:avLst>
          </a:prstGeom>
          <a:solidFill>
            <a:srgbClr val="B8D8A8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— RAG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5080" y="242316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pairs the LLM with a </a:t>
            </a:r>
            <a:r>
              <a:rPr lang="en-US" sz="1350" b="1" dirty="0">
                <a:solidFill>
                  <a:srgbClr val="3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step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relevant chunks of your own document are fetched first, then handed to the model as </a:t>
            </a:r>
            <a:r>
              <a:rPr lang="en-US" sz="1350" b="1" dirty="0">
                <a:solidFill>
                  <a:srgbClr val="3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context</a:t>
            </a:r>
            <a:r>
              <a:rPr lang="en-US" sz="1350" b="1" dirty="0"/>
              <a:t> </a:t>
            </a:r>
            <a:r>
              <a:rPr lang="en-US" sz="1350" dirty="0">
                <a:solidFill>
                  <a:srgbClr val="3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it answers.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Project — Chat with PDF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— End to End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0412" y="2651760"/>
            <a:ext cx="1572768" cy="1371600"/>
          </a:xfrm>
          <a:prstGeom prst="roundRect">
            <a:avLst>
              <a:gd name="adj" fmla="val 4667"/>
            </a:avLst>
          </a:prstGeom>
          <a:solidFill>
            <a:srgbClr val="B8D8A8"/>
          </a:solidFill>
          <a:ln/>
        </p:spPr>
      </p:sp>
      <p:sp>
        <p:nvSpPr>
          <p:cNvPr id="5" name="Text 3"/>
          <p:cNvSpPr/>
          <p:nvPr/>
        </p:nvSpPr>
        <p:spPr>
          <a:xfrm>
            <a:off x="1101852" y="2724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01852" y="303580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Document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01852" y="356616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PyPDFLoader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583180" y="315468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29484" y="2651760"/>
            <a:ext cx="1572768" cy="1371600"/>
          </a:xfrm>
          <a:prstGeom prst="roundRect">
            <a:avLst>
              <a:gd name="adj" fmla="val 4667"/>
            </a:avLst>
          </a:prstGeom>
          <a:solidFill>
            <a:srgbClr val="E4F0DB"/>
          </a:solidFill>
          <a:ln/>
        </p:spPr>
      </p:sp>
      <p:sp>
        <p:nvSpPr>
          <p:cNvPr id="10" name="Text 8"/>
          <p:cNvSpPr/>
          <p:nvPr/>
        </p:nvSpPr>
        <p:spPr>
          <a:xfrm>
            <a:off x="2820924" y="2724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20924" y="303580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820924" y="356616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RecursiveCharacterTextSplitter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02252" y="315468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48556" y="2651760"/>
            <a:ext cx="1572768" cy="1371600"/>
          </a:xfrm>
          <a:prstGeom prst="roundRect">
            <a:avLst>
              <a:gd name="adj" fmla="val 4667"/>
            </a:avLst>
          </a:prstGeom>
          <a:solidFill>
            <a:srgbClr val="B8D8A8"/>
          </a:solidFill>
          <a:ln/>
        </p:spPr>
      </p:sp>
      <p:sp>
        <p:nvSpPr>
          <p:cNvPr id="15" name="Text 13"/>
          <p:cNvSpPr/>
          <p:nvPr/>
        </p:nvSpPr>
        <p:spPr>
          <a:xfrm>
            <a:off x="4539996" y="2724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39996" y="303580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39996" y="356616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gemini-embedding-001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021324" y="315468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67628" y="2651760"/>
            <a:ext cx="1572768" cy="1371600"/>
          </a:xfrm>
          <a:prstGeom prst="roundRect">
            <a:avLst>
              <a:gd name="adj" fmla="val 4667"/>
            </a:avLst>
          </a:prstGeom>
          <a:solidFill>
            <a:srgbClr val="E4F0DB"/>
          </a:solidFill>
          <a:ln/>
        </p:spPr>
      </p:sp>
      <p:sp>
        <p:nvSpPr>
          <p:cNvPr id="20" name="Text 18"/>
          <p:cNvSpPr/>
          <p:nvPr/>
        </p:nvSpPr>
        <p:spPr>
          <a:xfrm>
            <a:off x="6259068" y="2724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59068" y="303580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59068" y="356616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40396" y="315468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886700" y="2651760"/>
            <a:ext cx="1572768" cy="1371600"/>
          </a:xfrm>
          <a:prstGeom prst="roundRect">
            <a:avLst>
              <a:gd name="adj" fmla="val 4667"/>
            </a:avLst>
          </a:prstGeom>
          <a:solidFill>
            <a:srgbClr val="B8D8A8"/>
          </a:solidFill>
          <a:ln/>
        </p:spPr>
      </p:sp>
      <p:sp>
        <p:nvSpPr>
          <p:cNvPr id="25" name="Text 23"/>
          <p:cNvSpPr/>
          <p:nvPr/>
        </p:nvSpPr>
        <p:spPr>
          <a:xfrm>
            <a:off x="7978140" y="2724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978140" y="303580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978140" y="356616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similarity search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459468" y="315468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605772" y="2651760"/>
            <a:ext cx="1572768" cy="1371600"/>
          </a:xfrm>
          <a:prstGeom prst="roundRect">
            <a:avLst>
              <a:gd name="adj" fmla="val 4667"/>
            </a:avLst>
          </a:prstGeom>
          <a:solidFill>
            <a:srgbClr val="E4F0DB"/>
          </a:solidFill>
          <a:ln/>
        </p:spPr>
      </p:sp>
      <p:sp>
        <p:nvSpPr>
          <p:cNvPr id="30" name="Text 28"/>
          <p:cNvSpPr/>
          <p:nvPr/>
        </p:nvSpPr>
        <p:spPr>
          <a:xfrm>
            <a:off x="9697212" y="2724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97212" y="303580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697212" y="356616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+ prompt template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10412" y="2267712"/>
            <a:ext cx="6729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(once, offline)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886700" y="2267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TIME (every question)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a question  →  Retriever finds the 2 most relevant chunks  →  Gemini answers using only that context (max 3 sentences)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4F0DB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52303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split into two phases?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(load → chunk → embed → store) runs once per document and is expensive. Query time (retrieve → generate) runs on every user question and needs to be fast — this is why the vector store is persisted to disk.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Project — Chat with PDF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22960" cy="822960"/>
          </a:xfrm>
          <a:prstGeom prst="ellipse">
            <a:avLst/>
          </a:prstGeom>
          <a:solidFill>
            <a:srgbClr val="B8D8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✂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00200" y="17830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a document into small, overlapping pieces so each one is small enough to embed and specific enough to retrieve accurately.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1737360" cy="1188720"/>
          </a:xfrm>
          <a:prstGeom prst="roundRect">
            <a:avLst>
              <a:gd name="adj" fmla="val 4615"/>
            </a:avLst>
          </a:prstGeom>
          <a:solidFill>
            <a:srgbClr val="B8D8A8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3154680"/>
            <a:ext cx="1371600" cy="0"/>
          </a:xfrm>
          <a:prstGeom prst="line">
            <a:avLst/>
          </a:prstGeom>
          <a:noFill/>
          <a:ln w="12700">
            <a:solidFill>
              <a:srgbClr val="3E5C3A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3355848"/>
            <a:ext cx="1371600" cy="0"/>
          </a:xfrm>
          <a:prstGeom prst="line">
            <a:avLst/>
          </a:prstGeom>
          <a:noFill/>
          <a:ln w="12700">
            <a:solidFill>
              <a:srgbClr val="3E5C3A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557016"/>
            <a:ext cx="1371600" cy="0"/>
          </a:xfrm>
          <a:prstGeom prst="line">
            <a:avLst/>
          </a:prstGeom>
          <a:noFill/>
          <a:ln w="12700">
            <a:solidFill>
              <a:srgbClr val="3E5C3A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3758184"/>
            <a:ext cx="914400" cy="0"/>
          </a:xfrm>
          <a:prstGeom prst="line">
            <a:avLst/>
          </a:prstGeom>
          <a:noFill/>
          <a:ln w="12700">
            <a:solidFill>
              <a:srgbClr val="3E5C3A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1239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23160" y="2880360"/>
            <a:ext cx="274320" cy="1188720"/>
          </a:xfrm>
          <a:prstGeom prst="roundRect">
            <a:avLst>
              <a:gd name="adj" fmla="val 20000"/>
            </a:avLst>
          </a:prstGeom>
          <a:solidFill>
            <a:srgbClr val="3E5C3A">
              <a:alpha val="2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880360" y="2880360"/>
            <a:ext cx="1737360" cy="1188720"/>
          </a:xfrm>
          <a:prstGeom prst="roundRect">
            <a:avLst>
              <a:gd name="adj" fmla="val 4615"/>
            </a:avLst>
          </a:prstGeom>
          <a:solidFill>
            <a:srgbClr val="E4F0DB"/>
          </a:solidFill>
          <a:ln/>
        </p:spPr>
      </p:sp>
      <p:sp>
        <p:nvSpPr>
          <p:cNvPr id="15" name="Shape 13"/>
          <p:cNvSpPr/>
          <p:nvPr/>
        </p:nvSpPr>
        <p:spPr>
          <a:xfrm>
            <a:off x="3063240" y="3154680"/>
            <a:ext cx="1371600" cy="0"/>
          </a:xfrm>
          <a:prstGeom prst="line">
            <a:avLst/>
          </a:prstGeom>
          <a:noFill/>
          <a:ln w="12700">
            <a:solidFill>
              <a:srgbClr val="3E5C3A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63240" y="3355848"/>
            <a:ext cx="1371600" cy="0"/>
          </a:xfrm>
          <a:prstGeom prst="line">
            <a:avLst/>
          </a:prstGeom>
          <a:noFill/>
          <a:ln w="12700">
            <a:solidFill>
              <a:srgbClr val="3E5C3A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63240" y="3557016"/>
            <a:ext cx="1371600" cy="0"/>
          </a:xfrm>
          <a:prstGeom prst="line">
            <a:avLst/>
          </a:prstGeom>
          <a:noFill/>
          <a:ln w="12700">
            <a:solidFill>
              <a:srgbClr val="3E5C3A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63240" y="3758184"/>
            <a:ext cx="914400" cy="0"/>
          </a:xfrm>
          <a:prstGeom prst="line">
            <a:avLst/>
          </a:prstGeom>
          <a:noFill/>
          <a:ln w="12700">
            <a:solidFill>
              <a:srgbClr val="3E5C3A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0360" y="41239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0" y="2880360"/>
            <a:ext cx="274320" cy="1188720"/>
          </a:xfrm>
          <a:prstGeom prst="roundRect">
            <a:avLst>
              <a:gd name="adj" fmla="val 20000"/>
            </a:avLst>
          </a:prstGeom>
          <a:solidFill>
            <a:srgbClr val="3E5C3A">
              <a:alpha val="2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937760" y="2880360"/>
            <a:ext cx="1737360" cy="1188720"/>
          </a:xfrm>
          <a:prstGeom prst="roundRect">
            <a:avLst>
              <a:gd name="adj" fmla="val 4615"/>
            </a:avLst>
          </a:prstGeom>
          <a:solidFill>
            <a:srgbClr val="B8D8A8"/>
          </a:solidFill>
          <a:ln/>
        </p:spPr>
      </p:sp>
      <p:sp>
        <p:nvSpPr>
          <p:cNvPr id="22" name="Shape 20"/>
          <p:cNvSpPr/>
          <p:nvPr/>
        </p:nvSpPr>
        <p:spPr>
          <a:xfrm>
            <a:off x="5120640" y="3154680"/>
            <a:ext cx="1371600" cy="0"/>
          </a:xfrm>
          <a:prstGeom prst="line">
            <a:avLst/>
          </a:prstGeom>
          <a:noFill/>
          <a:ln w="12700">
            <a:solidFill>
              <a:srgbClr val="3E5C3A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0" y="3355848"/>
            <a:ext cx="1371600" cy="0"/>
          </a:xfrm>
          <a:prstGeom prst="line">
            <a:avLst/>
          </a:prstGeom>
          <a:noFill/>
          <a:ln w="12700">
            <a:solidFill>
              <a:srgbClr val="3E5C3A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0" y="3557016"/>
            <a:ext cx="1371600" cy="0"/>
          </a:xfrm>
          <a:prstGeom prst="line">
            <a:avLst/>
          </a:prstGeom>
          <a:noFill/>
          <a:ln w="12700">
            <a:solidFill>
              <a:srgbClr val="3E5C3A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3758184"/>
            <a:ext cx="914400" cy="0"/>
          </a:xfrm>
          <a:prstGeom prst="line">
            <a:avLst/>
          </a:prstGeom>
          <a:noFill/>
          <a:ln w="12700">
            <a:solidFill>
              <a:srgbClr val="3E5C3A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41239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37960" y="2880360"/>
            <a:ext cx="274320" cy="1188720"/>
          </a:xfrm>
          <a:prstGeom prst="roundRect">
            <a:avLst>
              <a:gd name="adj" fmla="val 20000"/>
            </a:avLst>
          </a:prstGeom>
          <a:solidFill>
            <a:srgbClr val="3E5C3A">
              <a:alpha val="2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995160" y="2880360"/>
            <a:ext cx="1737360" cy="1188720"/>
          </a:xfrm>
          <a:prstGeom prst="roundRect">
            <a:avLst>
              <a:gd name="adj" fmla="val 4615"/>
            </a:avLst>
          </a:prstGeom>
          <a:solidFill>
            <a:srgbClr val="E4F0DB"/>
          </a:solidFill>
          <a:ln/>
        </p:spPr>
      </p:sp>
      <p:sp>
        <p:nvSpPr>
          <p:cNvPr id="29" name="Shape 27"/>
          <p:cNvSpPr/>
          <p:nvPr/>
        </p:nvSpPr>
        <p:spPr>
          <a:xfrm>
            <a:off x="7178040" y="3154680"/>
            <a:ext cx="1371600" cy="0"/>
          </a:xfrm>
          <a:prstGeom prst="line">
            <a:avLst/>
          </a:prstGeom>
          <a:noFill/>
          <a:ln w="12700">
            <a:solidFill>
              <a:srgbClr val="3E5C3A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78040" y="3355848"/>
            <a:ext cx="1371600" cy="0"/>
          </a:xfrm>
          <a:prstGeom prst="line">
            <a:avLst/>
          </a:prstGeom>
          <a:noFill/>
          <a:ln w="12700">
            <a:solidFill>
              <a:srgbClr val="3E5C3A">
                <a:alpha val="6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78040" y="3557016"/>
            <a:ext cx="1371600" cy="0"/>
          </a:xfrm>
          <a:prstGeom prst="line">
            <a:avLst/>
          </a:prstGeom>
          <a:noFill/>
          <a:ln w="12700">
            <a:solidFill>
              <a:srgbClr val="3E5C3A">
                <a:alpha val="6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78040" y="3758184"/>
            <a:ext cx="914400" cy="0"/>
          </a:xfrm>
          <a:prstGeom prst="line">
            <a:avLst/>
          </a:prstGeom>
          <a:noFill/>
          <a:ln w="12700">
            <a:solidFill>
              <a:srgbClr val="3E5C3A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41239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" y="4526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Shaded strips = the 50-character overlap shared between neighboring chunks, so context isn't lost at chunk boundaries.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4F0DB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5230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used  —  RecursiveCharacterTextSplitter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22960" y="5559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A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chunk_size = 500 characters      chunk_overlap = 50 characters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Project — Chat with PDF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22960" cy="822960"/>
          </a:xfrm>
          <a:prstGeom prst="ellipse">
            <a:avLst/>
          </a:prstGeom>
          <a:solidFill>
            <a:srgbClr val="B8D8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⌘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00200" y="17830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text chunk is converted into a vector of numbers that captures its meaning — chunks about similar topics land near each other in vector space.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E4F0D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0632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“Employees may work from</a:t>
            </a:r>
            <a:endParaRPr lang="en-US" sz="1250" dirty="0"/>
          </a:p>
          <a:p>
            <a:pPr marL="0" indent="0">
              <a:buNone/>
            </a:pPr>
            <a:r>
              <a:rPr lang="en-US" sz="1250" i="1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on Fridays.”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297680" y="3337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8D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069080" y="4160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gemini-embedding-001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03520" y="2926080"/>
            <a:ext cx="6035040" cy="1371600"/>
          </a:xfrm>
          <a:prstGeom prst="roundRect">
            <a:avLst>
              <a:gd name="adj" fmla="val 5333"/>
            </a:avLst>
          </a:prstGeom>
          <a:solidFill>
            <a:srgbClr val="B8D8A8"/>
          </a:solidFill>
          <a:ln/>
        </p:spPr>
      </p:sp>
      <p:sp>
        <p:nvSpPr>
          <p:cNvPr id="12" name="Text 10"/>
          <p:cNvSpPr/>
          <p:nvPr/>
        </p:nvSpPr>
        <p:spPr>
          <a:xfrm>
            <a:off x="5532120" y="30632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[ 0.021, -0.184, 0.309, 0.077, -0.512, 0.163, ... 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36118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high-dimensional vector — the chunk's “meaning” encoded as numbers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E4F0D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846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retrieval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1663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user asks a question, it's embedded the same way — then ChromaDB finds the stored chunk-vectors closest to the question's vector, using similarity rather than exact keyword matching.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Project — Chat with PDF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Store &amp; Retrieval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22960" cy="822960"/>
          </a:xfrm>
          <a:prstGeom prst="ellipse">
            <a:avLst/>
          </a:prstGeom>
          <a:solidFill>
            <a:srgbClr val="B8D8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⌕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00200" y="17830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stores every chunk's embedding on disk. At query time, it runs a similarity search to pull back the most relevant chunks for the question.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E4F0DB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0" y="3749040"/>
            <a:ext cx="256032" cy="256032"/>
          </a:xfrm>
          <a:prstGeom prst="ellipse">
            <a:avLst/>
          </a:prstGeom>
          <a:solidFill>
            <a:srgbClr val="B8D8A8"/>
          </a:solidFill>
          <a:ln/>
        </p:spPr>
      </p:sp>
      <p:sp>
        <p:nvSpPr>
          <p:cNvPr id="9" name="Shape 7"/>
          <p:cNvSpPr/>
          <p:nvPr/>
        </p:nvSpPr>
        <p:spPr>
          <a:xfrm>
            <a:off x="3017520" y="3291840"/>
            <a:ext cx="201168" cy="201168"/>
          </a:xfrm>
          <a:prstGeom prst="ellipse">
            <a:avLst/>
          </a:prstGeom>
          <a:solidFill>
            <a:srgbClr val="3E5C3A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4206240"/>
            <a:ext cx="201168" cy="201168"/>
          </a:xfrm>
          <a:prstGeom prst="ellipse">
            <a:avLst/>
          </a:prstGeom>
          <a:solidFill>
            <a:srgbClr val="3E5C3A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206240" y="4846320"/>
            <a:ext cx="164592" cy="164592"/>
          </a:xfrm>
          <a:prstGeom prst="ellipse">
            <a:avLst/>
          </a:prstGeom>
          <a:solidFill>
            <a:srgbClr val="3E5C3A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554480" y="5212080"/>
            <a:ext cx="164592" cy="164592"/>
          </a:xfrm>
          <a:prstGeom prst="ellipse">
            <a:avLst/>
          </a:prstGeom>
          <a:solidFill>
            <a:srgbClr val="3E5C3A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3291840"/>
            <a:ext cx="146304" cy="146304"/>
          </a:xfrm>
          <a:prstGeom prst="ellipse">
            <a:avLst/>
          </a:prstGeom>
          <a:solidFill>
            <a:srgbClr val="3E5C3A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280160" y="3200400"/>
            <a:ext cx="146304" cy="146304"/>
          </a:xfrm>
          <a:prstGeom prst="ellipse">
            <a:avLst/>
          </a:prstGeom>
          <a:solidFill>
            <a:srgbClr val="3E5C3A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880360" y="3886200"/>
            <a:ext cx="292608" cy="292608"/>
          </a:xfrm>
          <a:prstGeom prst="ellipse">
            <a:avLst/>
          </a:prstGeom>
          <a:solidFill>
            <a:srgbClr val="3E5C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4206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question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97480" y="3703320"/>
            <a:ext cx="822960" cy="822960"/>
          </a:xfrm>
          <a:prstGeom prst="ellipse">
            <a:avLst/>
          </a:prstGeom>
          <a:ln w="15875">
            <a:solidFill>
              <a:srgbClr val="3E5C3A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822960" y="5669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chunks retrieved (k = 2)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278892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B8D8A8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2971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configuration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46520" y="34290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E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vector_db.as_retriever(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E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search_kwargs={"k": 2}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E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46520" y="43434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top 2 most relevant chunks are pulled per question — kept small so the LLM's context stays focused and answers stay grounded rather than rambling.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Project — Chat with PDF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E4F0D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B8D8A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the pipeline with LCEL (LangChain Expression Language)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E4F0DB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965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B8D8A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PyPDFLoader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and parses the source PDF document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E4F0DB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1965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B8D8A8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676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Embeddings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66760" y="2971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gemini-embedding-001 turns text into vectors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E4F0DB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114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B8D8A8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754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77240" y="5120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vector database, persisted locally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388620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E4F0DB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4114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B8D8A8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0" y="4754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Chat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72000" y="5120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gemini-3.5-flash generates the final answer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388620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E4F0DB"/>
          </a:solidFill>
          <a:ln/>
        </p:spPr>
      </p:sp>
      <p:sp>
        <p:nvSpPr>
          <p:cNvPr id="30" name="Shape 28"/>
          <p:cNvSpPr/>
          <p:nvPr/>
        </p:nvSpPr>
        <p:spPr>
          <a:xfrm>
            <a:off x="8366760" y="4114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B8D8A8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66760" y="4754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dotenv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66760" y="5120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Runtime, environment &amp; API key management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Project — Chat with PDF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RAG Chain (LCEL)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indexed, the retriever, prompt template and LLM are wired together into a single runnable chain: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3E5C3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774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4F0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rag_chain = (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4F0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{"context": retriever | format_docs, "question": RunnablePassthrough()}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4F0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prompt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4F0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llm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4F0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34340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E4F0D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4988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template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8463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Instructs Gemini to answer only from the retrieved context, in three sentences maximum, and to say “I don’t know” rather than guess.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434340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B8D8A8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44988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 loop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48463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while-loop takes questions from the terminal, invokes rag_chain, and prints the cleaned answer — until the user types exit or quit.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Project — Chat with PDF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Output — Chatbot in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6048" y="2093354"/>
            <a:ext cx="11377983" cy="2671291"/>
          </a:xfrm>
          <a:prstGeom prst="roundRect">
            <a:avLst>
              <a:gd name="adj" fmla="val 2198"/>
            </a:avLst>
          </a:prstGeom>
          <a:solidFill>
            <a:srgbClr val="E4F0DB"/>
          </a:solidFill>
          <a:ln w="25400">
            <a:solidFill>
              <a:srgbClr val="B8D8A8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75504" y="2468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B8D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⌘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463040" y="356616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terminal screenshot here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Project — Chat with PDF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936CBF8-7251-598D-21CA-3FC2F07D2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61" y="2626555"/>
            <a:ext cx="10828958" cy="13488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B8D8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7830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grounds an LLM in real, private data instead of relying on what it memorized during training.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E4F0D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8346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 and overlap directly trade off retrieval precision against how much context each chunk preserves.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02920" cy="502920"/>
          </a:xfrm>
          <a:prstGeom prst="ellipse">
            <a:avLst/>
          </a:prstGeom>
          <a:solidFill>
            <a:srgbClr val="B8D8A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388620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retriever's k small (k = 2) forces concise, focused answers instead of noisy, rambling ones.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502920" cy="502920"/>
          </a:xfrm>
          <a:prstGeom prst="ellipse">
            <a:avLst/>
          </a:prstGeom>
          <a:solidFill>
            <a:srgbClr val="E4F0D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4937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Persisting the vector store separates the expensive indexing step from fast, repeatable querying.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Project — Chat with PDF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E5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B8D8A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B8D8A8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868680" y="3611880"/>
            <a:ext cx="2377440" cy="0"/>
          </a:xfrm>
          <a:prstGeom prst="line">
            <a:avLst/>
          </a:prstGeom>
          <a:noFill/>
          <a:ln w="19050">
            <a:solidFill>
              <a:srgbClr val="B8D8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Samreen Shaikh  •  PGA 35 WE  •  RAG Project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928</Words>
  <Application>Microsoft Office PowerPoint</Application>
  <PresentationFormat>Widescreen</PresentationFormat>
  <Paragraphs>178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Samreen Shaikh</cp:lastModifiedBy>
  <cp:revision>4</cp:revision>
  <dcterms:created xsi:type="dcterms:W3CDTF">2026-07-26T03:58:29Z</dcterms:created>
  <dcterms:modified xsi:type="dcterms:W3CDTF">2026-07-26T05:30:18Z</dcterms:modified>
</cp:coreProperties>
</file>